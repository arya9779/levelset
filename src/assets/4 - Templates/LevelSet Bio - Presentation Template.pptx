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5" r:id="rId2"/>
    <p:sldId id="264" r:id="rId3"/>
    <p:sldId id="268" r:id="rId4"/>
    <p:sldId id="267" r:id="rId5"/>
  </p:sldIdLst>
  <p:sldSz cx="18288000" cy="10287000"/>
  <p:notesSz cx="10287000" cy="18288000"/>
  <p:defaultTextStyle>
    <a:lvl1pPr marL="0" algn="l" defTabSz="914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79" algn="l" defTabSz="914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56" algn="l" defTabSz="914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236" algn="l" defTabSz="914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313" algn="l" defTabSz="914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91" algn="l" defTabSz="914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468" algn="l" defTabSz="914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547" algn="l" defTabSz="914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625" algn="l" defTabSz="91415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C1C8"/>
    <a:srgbClr val="272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32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09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79" algn="l" defTabSz="9141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56" algn="l" defTabSz="9141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236" algn="l" defTabSz="9141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313" algn="l" defTabSz="9141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391" algn="l" defTabSz="9141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468" algn="l" defTabSz="9141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547" algn="l" defTabSz="9141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625" algn="l" defTabSz="9141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.png"/><Relationship Id="rId17" Type="http://schemas.openxmlformats.org/officeDocument/2006/relationships/image" Target="../media/image17.pn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E3F1E07-971C-135B-9AAE-C1A195D7983F}"/>
              </a:ext>
            </a:extLst>
          </p:cNvPr>
          <p:cNvGrpSpPr/>
          <p:nvPr userDrawn="1"/>
        </p:nvGrpSpPr>
        <p:grpSpPr>
          <a:xfrm>
            <a:off x="687660" y="630896"/>
            <a:ext cx="4333137" cy="540143"/>
            <a:chOff x="687659" y="630892"/>
            <a:chExt cx="4333137" cy="540143"/>
          </a:xfrm>
        </p:grpSpPr>
        <p:pic>
          <p:nvPicPr>
            <p:cNvPr id="7" name="Image 1" descr="preencoded.png">
              <a:extLst>
                <a:ext uri="{FF2B5EF4-FFF2-40B4-BE49-F238E27FC236}">
                  <a16:creationId xmlns:a16="http://schemas.microsoft.com/office/drawing/2014/main" id="{21F3BD4F-9372-32FA-5416-9848AF90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3129" y="661699"/>
              <a:ext cx="327063" cy="479775"/>
            </a:xfrm>
            <a:prstGeom prst="rect">
              <a:avLst/>
            </a:prstGeom>
          </p:spPr>
        </p:pic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5BA3915A-AC3F-6E29-D2E9-3774D9B5C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9872" y="819717"/>
              <a:ext cx="270072" cy="331682"/>
            </a:xfrm>
            <a:prstGeom prst="rect">
              <a:avLst/>
            </a:prstGeom>
          </p:spPr>
        </p:pic>
        <p:pic>
          <p:nvPicPr>
            <p:cNvPr id="9" name="Image 3" descr="preencoded.png">
              <a:extLst>
                <a:ext uri="{FF2B5EF4-FFF2-40B4-BE49-F238E27FC236}">
                  <a16:creationId xmlns:a16="http://schemas.microsoft.com/office/drawing/2014/main" id="{6E8F36E5-F53B-5EBC-3126-CDA1E1799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7912" y="829428"/>
              <a:ext cx="279858" cy="316585"/>
            </a:xfrm>
            <a:prstGeom prst="rect">
              <a:avLst/>
            </a:prstGeom>
          </p:spPr>
        </p:pic>
        <p:pic>
          <p:nvPicPr>
            <p:cNvPr id="10" name="Image 4" descr="preencoded.png">
              <a:extLst>
                <a:ext uri="{FF2B5EF4-FFF2-40B4-BE49-F238E27FC236}">
                  <a16:creationId xmlns:a16="http://schemas.microsoft.com/office/drawing/2014/main" id="{F2DF66F0-269E-5B1E-2DD8-13D1299B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8789" y="819717"/>
              <a:ext cx="270072" cy="331682"/>
            </a:xfrm>
            <a:prstGeom prst="rect">
              <a:avLst/>
            </a:prstGeom>
          </p:spPr>
        </p:pic>
        <p:pic>
          <p:nvPicPr>
            <p:cNvPr id="11" name="Image 5" descr="preencoded.png">
              <a:extLst>
                <a:ext uri="{FF2B5EF4-FFF2-40B4-BE49-F238E27FC236}">
                  <a16:creationId xmlns:a16="http://schemas.microsoft.com/office/drawing/2014/main" id="{BD12EA61-D3B0-23CD-CD31-78CCB180D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0617" y="630892"/>
              <a:ext cx="91723" cy="510583"/>
            </a:xfrm>
            <a:prstGeom prst="rect">
              <a:avLst/>
            </a:prstGeom>
          </p:spPr>
        </p:pic>
        <p:pic>
          <p:nvPicPr>
            <p:cNvPr id="12" name="Image 6" descr="preencoded.png">
              <a:extLst>
                <a:ext uri="{FF2B5EF4-FFF2-40B4-BE49-F238E27FC236}">
                  <a16:creationId xmlns:a16="http://schemas.microsoft.com/office/drawing/2014/main" id="{EB444614-5309-D3DC-5D4C-53A2D3247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56490" y="651839"/>
              <a:ext cx="311282" cy="499486"/>
            </a:xfrm>
            <a:prstGeom prst="rect">
              <a:avLst/>
            </a:prstGeom>
          </p:spPr>
        </p:pic>
        <p:pic>
          <p:nvPicPr>
            <p:cNvPr id="13" name="Image 7" descr="preencoded.png">
              <a:extLst>
                <a:ext uri="{FF2B5EF4-FFF2-40B4-BE49-F238E27FC236}">
                  <a16:creationId xmlns:a16="http://schemas.microsoft.com/office/drawing/2014/main" id="{0E672BA0-56B9-743A-82B7-A4B020E3E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3376" y="819717"/>
              <a:ext cx="270072" cy="331682"/>
            </a:xfrm>
            <a:prstGeom prst="rect">
              <a:avLst/>
            </a:prstGeom>
          </p:spPr>
        </p:pic>
        <p:pic>
          <p:nvPicPr>
            <p:cNvPr id="14" name="Image 8" descr="preencoded.png">
              <a:extLst>
                <a:ext uri="{FF2B5EF4-FFF2-40B4-BE49-F238E27FC236}">
                  <a16:creationId xmlns:a16="http://schemas.microsoft.com/office/drawing/2014/main" id="{500244C9-239E-9EBF-EEFE-7DDCA9F00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56442" y="769823"/>
              <a:ext cx="181587" cy="381363"/>
            </a:xfrm>
            <a:prstGeom prst="rect">
              <a:avLst/>
            </a:prstGeom>
          </p:spPr>
        </p:pic>
        <p:pic>
          <p:nvPicPr>
            <p:cNvPr id="15" name="Image 9" descr="preencoded.png">
              <a:extLst>
                <a:ext uri="{FF2B5EF4-FFF2-40B4-BE49-F238E27FC236}">
                  <a16:creationId xmlns:a16="http://schemas.microsoft.com/office/drawing/2014/main" id="{395B80DD-56BF-639B-F35C-7713DAC71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28093" y="659067"/>
              <a:ext cx="344774" cy="482398"/>
            </a:xfrm>
            <a:prstGeom prst="rect">
              <a:avLst/>
            </a:prstGeom>
          </p:spPr>
        </p:pic>
        <p:pic>
          <p:nvPicPr>
            <p:cNvPr id="16" name="Image 10" descr="preencoded.png">
              <a:extLst>
                <a:ext uri="{FF2B5EF4-FFF2-40B4-BE49-F238E27FC236}">
                  <a16:creationId xmlns:a16="http://schemas.microsoft.com/office/drawing/2014/main" id="{25655CFB-D49B-A879-D19D-9F878D7C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33235" y="676787"/>
              <a:ext cx="91103" cy="464614"/>
            </a:xfrm>
            <a:prstGeom prst="rect">
              <a:avLst/>
            </a:prstGeom>
          </p:spPr>
        </p:pic>
        <p:pic>
          <p:nvPicPr>
            <p:cNvPr id="17" name="Image 11" descr="preencoded.png">
              <a:extLst>
                <a:ext uri="{FF2B5EF4-FFF2-40B4-BE49-F238E27FC236}">
                  <a16:creationId xmlns:a16="http://schemas.microsoft.com/office/drawing/2014/main" id="{EE1E8158-D5CC-8948-07B6-92A7BB7C8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91803" y="819643"/>
              <a:ext cx="328993" cy="331682"/>
            </a:xfrm>
            <a:prstGeom prst="rect">
              <a:avLst/>
            </a:prstGeom>
          </p:spPr>
        </p:pic>
        <p:pic>
          <p:nvPicPr>
            <p:cNvPr id="18" name="Image 12" descr="preencoded.png">
              <a:extLst>
                <a:ext uri="{FF2B5EF4-FFF2-40B4-BE49-F238E27FC236}">
                  <a16:creationId xmlns:a16="http://schemas.microsoft.com/office/drawing/2014/main" id="{1D853290-420C-DE78-02A7-13AC2DB02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7659" y="634268"/>
              <a:ext cx="131280" cy="131276"/>
            </a:xfrm>
            <a:prstGeom prst="rect">
              <a:avLst/>
            </a:prstGeom>
          </p:spPr>
        </p:pic>
        <p:pic>
          <p:nvPicPr>
            <p:cNvPr id="19" name="Image 13" descr="preencoded.png">
              <a:extLst>
                <a:ext uri="{FF2B5EF4-FFF2-40B4-BE49-F238E27FC236}">
                  <a16:creationId xmlns:a16="http://schemas.microsoft.com/office/drawing/2014/main" id="{041A86E4-5558-8658-7EE8-78780AC23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9767" y="634268"/>
              <a:ext cx="131280" cy="131276"/>
            </a:xfrm>
            <a:prstGeom prst="rect">
              <a:avLst/>
            </a:prstGeom>
          </p:spPr>
        </p:pic>
        <p:pic>
          <p:nvPicPr>
            <p:cNvPr id="20" name="Image 14" descr="preencoded.png">
              <a:extLst>
                <a:ext uri="{FF2B5EF4-FFF2-40B4-BE49-F238E27FC236}">
                  <a16:creationId xmlns:a16="http://schemas.microsoft.com/office/drawing/2014/main" id="{A3CA2C67-B9E0-7D89-D251-D9B3DE307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31875" y="634268"/>
              <a:ext cx="131280" cy="131276"/>
            </a:xfrm>
            <a:prstGeom prst="rect">
              <a:avLst/>
            </a:prstGeom>
          </p:spPr>
        </p:pic>
        <p:pic>
          <p:nvPicPr>
            <p:cNvPr id="21" name="Image 15" descr="preencoded.png">
              <a:extLst>
                <a:ext uri="{FF2B5EF4-FFF2-40B4-BE49-F238E27FC236}">
                  <a16:creationId xmlns:a16="http://schemas.microsoft.com/office/drawing/2014/main" id="{606ED20F-05FA-5BC0-669A-555F54367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9767" y="837009"/>
              <a:ext cx="131280" cy="131276"/>
            </a:xfrm>
            <a:prstGeom prst="rect">
              <a:avLst/>
            </a:prstGeom>
          </p:spPr>
        </p:pic>
        <p:pic>
          <p:nvPicPr>
            <p:cNvPr id="22" name="Image 16" descr="preencoded.png">
              <a:extLst>
                <a:ext uri="{FF2B5EF4-FFF2-40B4-BE49-F238E27FC236}">
                  <a16:creationId xmlns:a16="http://schemas.microsoft.com/office/drawing/2014/main" id="{D7BA9954-2F80-7C85-FA3B-FD149C9DF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31875" y="837009"/>
              <a:ext cx="131280" cy="131276"/>
            </a:xfrm>
            <a:prstGeom prst="rect">
              <a:avLst/>
            </a:prstGeom>
          </p:spPr>
        </p:pic>
        <p:pic>
          <p:nvPicPr>
            <p:cNvPr id="23" name="Image 17" descr="preencoded.png">
              <a:extLst>
                <a:ext uri="{FF2B5EF4-FFF2-40B4-BE49-F238E27FC236}">
                  <a16:creationId xmlns:a16="http://schemas.microsoft.com/office/drawing/2014/main" id="{6AB682CE-1AD1-B617-008F-D262A3D71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31875" y="1039760"/>
              <a:ext cx="131280" cy="131275"/>
            </a:xfrm>
            <a:prstGeom prst="rect">
              <a:avLst/>
            </a:prstGeom>
          </p:spPr>
        </p:pic>
      </p:grpSp>
      <p:pic>
        <p:nvPicPr>
          <p:cNvPr id="24" name="Image 18" descr="preencoded.png">
            <a:extLst>
              <a:ext uri="{FF2B5EF4-FFF2-40B4-BE49-F238E27FC236}">
                <a16:creationId xmlns:a16="http://schemas.microsoft.com/office/drawing/2014/main" id="{2177ADAB-6E94-3909-341E-8E0212ECE2D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85804" y="3124200"/>
            <a:ext cx="85724" cy="85725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E7C8564F-C317-88FE-74BF-AA99105FA184}"/>
              </a:ext>
            </a:extLst>
          </p:cNvPr>
          <p:cNvSpPr/>
          <p:nvPr userDrawn="1"/>
        </p:nvSpPr>
        <p:spPr>
          <a:xfrm>
            <a:off x="609602" y="5962650"/>
            <a:ext cx="131430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0"/>
              </a:lnSpc>
            </a:pPr>
            <a:endParaRPr lang="en-US" sz="2400" dirty="0">
              <a:solidFill>
                <a:schemeClr val="bg1"/>
              </a:solidFill>
              <a:latin typeface="Aspekta Variable" pitchFamily="2" charset="7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6285757-753C-3109-98B1-272B10BE01F2}"/>
              </a:ext>
            </a:extLst>
          </p:cNvPr>
          <p:cNvGrpSpPr/>
          <p:nvPr userDrawn="1"/>
        </p:nvGrpSpPr>
        <p:grpSpPr>
          <a:xfrm>
            <a:off x="10306055" y="6981825"/>
            <a:ext cx="7086599" cy="3305175"/>
            <a:chOff x="10306051" y="6981825"/>
            <a:chExt cx="7086599" cy="3305175"/>
          </a:xfrm>
        </p:grpSpPr>
        <p:pic>
          <p:nvPicPr>
            <p:cNvPr id="28" name="Image 19" descr="preencoded.png">
              <a:extLst>
                <a:ext uri="{FF2B5EF4-FFF2-40B4-BE49-F238E27FC236}">
                  <a16:creationId xmlns:a16="http://schemas.microsoft.com/office/drawing/2014/main" id="{F05AA495-A244-EA64-9AF9-AC988C7962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306051" y="6981825"/>
              <a:ext cx="1616572" cy="1617855"/>
            </a:xfrm>
            <a:prstGeom prst="rect">
              <a:avLst/>
            </a:prstGeom>
          </p:spPr>
        </p:pic>
        <p:pic>
          <p:nvPicPr>
            <p:cNvPr id="29" name="Image 20" descr="preencoded.png">
              <a:extLst>
                <a:ext uri="{FF2B5EF4-FFF2-40B4-BE49-F238E27FC236}">
                  <a16:creationId xmlns:a16="http://schemas.microsoft.com/office/drawing/2014/main" id="{9D99E779-AD67-E96E-4F9C-8202D3B7A5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13041064" y="6981825"/>
              <a:ext cx="1616572" cy="1617855"/>
            </a:xfrm>
            <a:prstGeom prst="rect">
              <a:avLst/>
            </a:prstGeom>
          </p:spPr>
        </p:pic>
        <p:pic>
          <p:nvPicPr>
            <p:cNvPr id="30" name="Image 21" descr="preencoded.png">
              <a:extLst>
                <a:ext uri="{FF2B5EF4-FFF2-40B4-BE49-F238E27FC236}">
                  <a16:creationId xmlns:a16="http://schemas.microsoft.com/office/drawing/2014/main" id="{83259720-F108-A424-7403-869C007ED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15776077" y="6981825"/>
              <a:ext cx="1616573" cy="1617855"/>
            </a:xfrm>
            <a:prstGeom prst="rect">
              <a:avLst/>
            </a:prstGeom>
          </p:spPr>
        </p:pic>
        <p:pic>
          <p:nvPicPr>
            <p:cNvPr id="31" name="Image 22" descr="preencoded.png">
              <a:extLst>
                <a:ext uri="{FF2B5EF4-FFF2-40B4-BE49-F238E27FC236}">
                  <a16:creationId xmlns:a16="http://schemas.microsoft.com/office/drawing/2014/main" id="{39047154-4BC1-FDCE-BCAF-E49A3A0099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13041064" y="9480370"/>
              <a:ext cx="1616572" cy="806630"/>
            </a:xfrm>
            <a:prstGeom prst="rect">
              <a:avLst/>
            </a:prstGeom>
          </p:spPr>
        </p:pic>
        <p:pic>
          <p:nvPicPr>
            <p:cNvPr id="32" name="Image 23" descr="preencoded.png">
              <a:extLst>
                <a:ext uri="{FF2B5EF4-FFF2-40B4-BE49-F238E27FC236}">
                  <a16:creationId xmlns:a16="http://schemas.microsoft.com/office/drawing/2014/main" id="{468605C7-2281-3BAC-A776-01D0B501FB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/>
            <a:stretch>
              <a:fillRect/>
            </a:stretch>
          </p:blipFill>
          <p:spPr>
            <a:xfrm>
              <a:off x="15776077" y="9480370"/>
              <a:ext cx="1616573" cy="806630"/>
            </a:xfrm>
            <a:prstGeom prst="rect">
              <a:avLst/>
            </a:prstGeom>
          </p:spPr>
        </p:pic>
      </p:grpSp>
      <p:pic>
        <p:nvPicPr>
          <p:cNvPr id="33" name="Image 24" descr="preencoded.png">
            <a:extLst>
              <a:ext uri="{FF2B5EF4-FFF2-40B4-BE49-F238E27FC236}">
                <a16:creationId xmlns:a16="http://schemas.microsoft.com/office/drawing/2014/main" id="{4D3A80B3-EC10-DDD3-BA7C-F7B614ACC7A0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609600" y="1609725"/>
            <a:ext cx="17068800" cy="9525"/>
          </a:xfrm>
          <a:prstGeom prst="rect">
            <a:avLst/>
          </a:prstGeom>
        </p:spPr>
      </p:pic>
      <p:sp>
        <p:nvSpPr>
          <p:cNvPr id="35" name="Title 34">
            <a:extLst>
              <a:ext uri="{FF2B5EF4-FFF2-40B4-BE49-F238E27FC236}">
                <a16:creationId xmlns:a16="http://schemas.microsoft.com/office/drawing/2014/main" id="{2F4ACF9D-45D1-FF65-BE3E-984CF99FE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746" y="3619877"/>
            <a:ext cx="14855330" cy="2152277"/>
          </a:xfrm>
        </p:spPr>
        <p:txBody>
          <a:bodyPr anchor="t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 dirty="0">
                <a:solidFill>
                  <a:schemeClr val="bg1"/>
                </a:solidFill>
                <a:latin typeface="Aspekta Variable" pitchFamily="2" charset="77"/>
              </a:rPr>
              <a:t>Tagline/Introductory Statement</a:t>
            </a:r>
            <a:endParaRPr lang="en-US" dirty="0">
              <a:solidFill>
                <a:schemeClr val="bg1"/>
              </a:solidFill>
              <a:latin typeface="Aspekta Variable" pitchFamily="2" charset="77"/>
            </a:endParaRP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1BF3AF7-4B06-1B36-74D5-85D9DFCDB1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3684" y="3051648"/>
            <a:ext cx="6978369" cy="276999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GB" dirty="0"/>
              <a:t>INVESTOR DECK</a:t>
            </a:r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A77C3E7A-FBED-74BC-816D-241AE43C53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3746" y="6063380"/>
            <a:ext cx="6978369" cy="359907"/>
          </a:xfrm>
        </p:spPr>
        <p:txBody>
          <a:bodyPr/>
          <a:lstStyle>
            <a:lvl1pPr>
              <a:lnSpc>
                <a:spcPts val="4680"/>
              </a:lnSpc>
              <a:defRPr sz="2000" u="none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lnSpc>
                <a:spcPts val="3120"/>
              </a:lnSpc>
            </a:pPr>
            <a:r>
              <a:rPr lang="en-US" sz="1800" dirty="0">
                <a:solidFill>
                  <a:schemeClr val="bg1"/>
                </a:solidFill>
                <a:latin typeface="Aspekta Variable" pitchFamily="2" charset="77"/>
                <a:ea typeface="+mj-lt" pitchFamily="34" charset="-122"/>
                <a:cs typeface="+mj-lt" pitchFamily="34" charset="-120"/>
              </a:rPr>
              <a:t>01 • 01 • 2026 </a:t>
            </a:r>
            <a:endParaRPr lang="en-US" sz="1800" dirty="0">
              <a:solidFill>
                <a:schemeClr val="bg1"/>
              </a:solidFill>
              <a:latin typeface="Aspekta Variabl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56576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D97AEB7-35BB-2A48-86F1-B85AAEF77591}"/>
              </a:ext>
            </a:extLst>
          </p:cNvPr>
          <p:cNvGrpSpPr/>
          <p:nvPr userDrawn="1"/>
        </p:nvGrpSpPr>
        <p:grpSpPr>
          <a:xfrm>
            <a:off x="17108765" y="605698"/>
            <a:ext cx="575495" cy="536768"/>
            <a:chOff x="17108760" y="605693"/>
            <a:chExt cx="575495" cy="536767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08760" y="605693"/>
              <a:ext cx="131280" cy="131276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30868" y="605693"/>
              <a:ext cx="131280" cy="131276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52975" y="605693"/>
              <a:ext cx="131280" cy="131276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30868" y="808434"/>
              <a:ext cx="131280" cy="131276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52975" y="808434"/>
              <a:ext cx="131280" cy="131276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52975" y="1011185"/>
              <a:ext cx="131280" cy="131275"/>
            </a:xfrm>
            <a:prstGeom prst="rect">
              <a:avLst/>
            </a:prstGeom>
          </p:spPr>
        </p:pic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9AA46D6-FA7F-13F4-7CF2-248AC52F80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2781A0-EF80-8341-9138-2BF5DDD951C3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01AC1998-55E6-8304-7DF4-E6D2274BE1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3746" y="9747454"/>
            <a:ext cx="6172200" cy="184667"/>
          </a:xfrm>
        </p:spPr>
        <p:txBody>
          <a:bodyPr/>
          <a:lstStyle/>
          <a:p>
            <a:pPr algn="l"/>
            <a:r>
              <a:rPr lang="en-US">
                <a:solidFill>
                  <a:schemeClr val="bg1">
                    <a:lumMod val="50000"/>
                  </a:schemeClr>
                </a:solidFill>
                <a:ea typeface="Outfit" pitchFamily="34" charset="-122"/>
                <a:cs typeface="Outfit" pitchFamily="34" charset="-120"/>
              </a:rPr>
              <a:t>Investor Deck • March 2026</a:t>
            </a:r>
            <a:endParaRPr lang="en-US" dirty="0">
              <a:solidFill>
                <a:schemeClr val="bg1">
                  <a:lumMod val="50000"/>
                </a:schemeClr>
              </a:solidFill>
              <a:ea typeface="Outfit" pitchFamily="34" charset="-122"/>
              <a:cs typeface="Outfit" pitchFamily="34" charset="-120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268B7453-8024-FA23-B00D-0C11A269D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F02A7AB3-9A7D-6A49-2312-F6C505ACD1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5825" y="615963"/>
            <a:ext cx="15773402" cy="23083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sz="1500" dirty="0">
                <a:solidFill>
                  <a:srgbClr val="60C1C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Black"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A67C7B50-372F-7636-CCC1-5C543B805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746" y="962001"/>
            <a:ext cx="15773402" cy="6792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Footer Placeholder 2">
            <a:extLst>
              <a:ext uri="{FF2B5EF4-FFF2-40B4-BE49-F238E27FC236}">
                <a16:creationId xmlns:a16="http://schemas.microsoft.com/office/drawing/2014/main" id="{74915C8E-6A72-94B5-0E3B-32233E202B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0792" y="9747454"/>
            <a:ext cx="6172200" cy="18466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>
                <a:ea typeface="Outfit" pitchFamily="34" charset="-122"/>
                <a:cs typeface="Outfit" pitchFamily="34" charset="-120"/>
              </a:rPr>
              <a:t>Investor Deck • March 2026</a:t>
            </a:r>
            <a:endParaRPr lang="en-US" dirty="0">
              <a:ea typeface="Outfit" pitchFamily="34" charset="-122"/>
              <a:cs typeface="Outfit" pitchFamily="34" charset="-120"/>
            </a:endParaRPr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805AF235-E56B-EDB4-E1B7-7748E9AA5D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563602" y="9747454"/>
            <a:ext cx="4114800" cy="18466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142781A0-EF80-8341-9138-2BF5DDD951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31C7B404-86CD-3D2F-6726-088B93069D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5825" y="615963"/>
            <a:ext cx="15773402" cy="23083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1500" dirty="0">
                <a:solidFill>
                  <a:srgbClr val="60C1C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SUBTITLE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1E31E13-0FE5-D069-3555-9C9742BBC1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841" y="2681291"/>
            <a:ext cx="6854019" cy="2462213"/>
          </a:xfrm>
        </p:spPr>
        <p:txBody>
          <a:bodyPr/>
          <a:lstStyle>
            <a:lvl1pPr>
              <a:defRPr sz="800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Call to Action Sentence</a:t>
            </a:r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9349C911-8E03-5955-4BCD-B7B06C327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841" y="7196458"/>
            <a:ext cx="5217738" cy="369332"/>
          </a:xfrm>
        </p:spPr>
        <p:txBody>
          <a:bodyPr/>
          <a:lstStyle>
            <a:lvl1pPr>
              <a:defRPr sz="2400">
                <a:solidFill>
                  <a:srgbClr val="60C1C8"/>
                </a:solidFill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0C056E06-8A78-8A91-59E9-7A8981D19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841" y="7823987"/>
            <a:ext cx="5217738" cy="369332"/>
          </a:xfrm>
        </p:spPr>
        <p:txBody>
          <a:bodyPr/>
          <a:lstStyle>
            <a:lvl1pPr>
              <a:defRPr sz="2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GB" dirty="0"/>
              <a:t>+00 000 000</a:t>
            </a:r>
            <a:endParaRPr lang="en-US" dirty="0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52ED9B95-F875-1252-EC68-421F51CB92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5841" y="8433589"/>
            <a:ext cx="6329363" cy="369332"/>
          </a:xfrm>
        </p:spPr>
        <p:txBody>
          <a:bodyPr/>
          <a:lstStyle>
            <a:lvl1pPr>
              <a:defRPr sz="2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GB" dirty="0" err="1"/>
              <a:t>name.surname@levelsetbio.com</a:t>
            </a:r>
            <a:endParaRPr lang="en-US" dirty="0"/>
          </a:p>
        </p:txBody>
      </p:sp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2D137C54-4195-9817-F3F2-5975AA5BA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700000">
            <a:off x="633506" y="7279074"/>
            <a:ext cx="153308" cy="153309"/>
          </a:xfrm>
          <a:prstGeom prst="rect">
            <a:avLst/>
          </a:prstGeom>
        </p:spPr>
      </p:pic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59C5B05-C6C0-965F-9FB6-12661AD7CC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66032" y="0"/>
            <a:ext cx="8721968" cy="10287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5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77F8F4C-1070-2922-15B6-F45E5C952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5825" y="615963"/>
            <a:ext cx="15773402" cy="23083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sz="1500" dirty="0">
                <a:solidFill>
                  <a:srgbClr val="60C1C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Subtitle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2D907AED-A38C-4B36-8240-917A3C20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746" y="962001"/>
            <a:ext cx="15773402" cy="679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46CDD7-8AAE-340F-42B0-7DA6AEF01972}"/>
              </a:ext>
            </a:extLst>
          </p:cNvPr>
          <p:cNvGrpSpPr/>
          <p:nvPr userDrawn="1"/>
        </p:nvGrpSpPr>
        <p:grpSpPr>
          <a:xfrm>
            <a:off x="17108765" y="605698"/>
            <a:ext cx="575495" cy="536768"/>
            <a:chOff x="17108760" y="605693"/>
            <a:chExt cx="575495" cy="536767"/>
          </a:xfrm>
        </p:grpSpPr>
        <p:pic>
          <p:nvPicPr>
            <p:cNvPr id="3" name="Image 2" descr="preencoded.png">
              <a:extLst>
                <a:ext uri="{FF2B5EF4-FFF2-40B4-BE49-F238E27FC236}">
                  <a16:creationId xmlns:a16="http://schemas.microsoft.com/office/drawing/2014/main" id="{14455603-04CC-9116-F318-DCE260DC1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108760" y="605693"/>
              <a:ext cx="131280" cy="131276"/>
            </a:xfrm>
            <a:prstGeom prst="rect">
              <a:avLst/>
            </a:prstGeom>
          </p:spPr>
        </p:pic>
        <p:pic>
          <p:nvPicPr>
            <p:cNvPr id="4" name="Image 3" descr="preencoded.png">
              <a:extLst>
                <a:ext uri="{FF2B5EF4-FFF2-40B4-BE49-F238E27FC236}">
                  <a16:creationId xmlns:a16="http://schemas.microsoft.com/office/drawing/2014/main" id="{A1B658AA-EAF1-5EC8-F690-87D18129B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330868" y="605693"/>
              <a:ext cx="131280" cy="131276"/>
            </a:xfrm>
            <a:prstGeom prst="rect">
              <a:avLst/>
            </a:prstGeom>
          </p:spPr>
        </p:pic>
        <p:pic>
          <p:nvPicPr>
            <p:cNvPr id="5" name="Image 4" descr="preencoded.png">
              <a:extLst>
                <a:ext uri="{FF2B5EF4-FFF2-40B4-BE49-F238E27FC236}">
                  <a16:creationId xmlns:a16="http://schemas.microsoft.com/office/drawing/2014/main" id="{45CAAB3B-59DA-4996-D4FB-7F278B912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52975" y="605693"/>
              <a:ext cx="131280" cy="131276"/>
            </a:xfrm>
            <a:prstGeom prst="rect">
              <a:avLst/>
            </a:prstGeom>
          </p:spPr>
        </p:pic>
        <p:pic>
          <p:nvPicPr>
            <p:cNvPr id="6" name="Image 5" descr="preencoded.png">
              <a:extLst>
                <a:ext uri="{FF2B5EF4-FFF2-40B4-BE49-F238E27FC236}">
                  <a16:creationId xmlns:a16="http://schemas.microsoft.com/office/drawing/2014/main" id="{B9224181-C30C-7746-A863-00D14529B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330868" y="808434"/>
              <a:ext cx="131280" cy="131276"/>
            </a:xfrm>
            <a:prstGeom prst="rect">
              <a:avLst/>
            </a:prstGeom>
          </p:spPr>
        </p:pic>
        <p:pic>
          <p:nvPicPr>
            <p:cNvPr id="7" name="Image 6" descr="preencoded.png">
              <a:extLst>
                <a:ext uri="{FF2B5EF4-FFF2-40B4-BE49-F238E27FC236}">
                  <a16:creationId xmlns:a16="http://schemas.microsoft.com/office/drawing/2014/main" id="{9869BEC2-4E30-5D1D-562C-F781F7788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52975" y="808434"/>
              <a:ext cx="131280" cy="131276"/>
            </a:xfrm>
            <a:prstGeom prst="rect">
              <a:avLst/>
            </a:prstGeom>
          </p:spPr>
        </p:pic>
        <p:pic>
          <p:nvPicPr>
            <p:cNvPr id="8" name="Image 7" descr="preencoded.png">
              <a:extLst>
                <a:ext uri="{FF2B5EF4-FFF2-40B4-BE49-F238E27FC236}">
                  <a16:creationId xmlns:a16="http://schemas.microsoft.com/office/drawing/2014/main" id="{F74849F4-0E20-47DD-7E3F-D9350E757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52975" y="1011185"/>
              <a:ext cx="131280" cy="131275"/>
            </a:xfrm>
            <a:prstGeom prst="rect">
              <a:avLst/>
            </a:prstGeom>
          </p:spPr>
        </p:pic>
      </p:grpSp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B162AA43-98E8-51DF-262F-6963AD02F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792" y="9747454"/>
            <a:ext cx="6172200" cy="18466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n-US" dirty="0">
                <a:solidFill>
                  <a:schemeClr val="bg1">
                    <a:lumMod val="50000"/>
                  </a:schemeClr>
                </a:solidFill>
                <a:ea typeface="Outfit" pitchFamily="34" charset="-122"/>
                <a:cs typeface="Outfit" pitchFamily="34" charset="-120"/>
              </a:rPr>
              <a:t>Investor Deck • March 2026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E0EBF8-8713-4892-CA29-EFAE87BEBED2}"/>
              </a:ext>
            </a:extLst>
          </p:cNvPr>
          <p:cNvCxnSpPr/>
          <p:nvPr userDrawn="1"/>
        </p:nvCxnSpPr>
        <p:spPr>
          <a:xfrm>
            <a:off x="609600" y="9566030"/>
            <a:ext cx="1706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8" descr="preencoded.png">
            <a:extLst>
              <a:ext uri="{FF2B5EF4-FFF2-40B4-BE49-F238E27FC236}">
                <a16:creationId xmlns:a16="http://schemas.microsoft.com/office/drawing/2014/main" id="{F8096EE4-CDEC-6195-0353-A7A21C5395A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85804" y="681039"/>
            <a:ext cx="85724" cy="85725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1ED571-7F74-5B98-5C05-243D38956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63602" y="9747454"/>
            <a:ext cx="4114800" cy="18466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2781A0-EF80-8341-9138-2BF5DDD951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49" r:id="rId3"/>
    <p:sldLayoutId id="2147483654" r:id="rId4"/>
  </p:sldLayoutIdLst>
  <p:hf hdr="0" dt="0"/>
  <p:txStyles>
    <p:titleStyle>
      <a:lvl1pPr algn="l" defTabSz="91453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535" rtl="0" eaLnBrk="1" latinLnBrk="0" hangingPunct="1">
        <a:spcBef>
          <a:spcPct val="20000"/>
        </a:spcBef>
        <a:buFont typeface="Arial" pitchFamily="34" charset="0"/>
        <a:buNone/>
        <a:defRPr lang="en-US" sz="1500" kern="1200" smtClean="0">
          <a:solidFill>
            <a:srgbClr val="60C1C8"/>
          </a:solidFill>
          <a:latin typeface="+mn-lt"/>
          <a:ea typeface="+mj-lt" pitchFamily="34" charset="-122"/>
          <a:cs typeface="+mj-lt" pitchFamily="34" charset="-120"/>
        </a:defRPr>
      </a:lvl1pPr>
      <a:lvl2pPr marL="743063" indent="-285795" algn="l" defTabSz="914535" rtl="0" eaLnBrk="1" latinLnBrk="0" hangingPunct="1">
        <a:spcBef>
          <a:spcPct val="20000"/>
        </a:spcBef>
        <a:buFont typeface="Arial" pitchFamily="34" charset="0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171" indent="-228636" algn="l" defTabSz="91453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442" indent="-228636" algn="l" defTabSz="91453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711" indent="-228636" algn="l" defTabSz="91453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978" indent="-228636" algn="l" defTabSz="91453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246" indent="-228636" algn="l" defTabSz="91453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513" indent="-228636" algn="l" defTabSz="91453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785" indent="-228636" algn="l" defTabSz="91453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71" algn="l" defTabSz="9145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35" algn="l" defTabSz="9145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07" algn="l" defTabSz="9145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075" algn="l" defTabSz="9145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342" algn="l" defTabSz="9145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613" algn="l" defTabSz="9145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882" algn="l" defTabSz="9145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149" algn="l" defTabSz="9145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E1471-5EDA-9993-6A6D-DEFCA8C1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BA159-7F05-821A-CE46-0B0E579E59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D4BDD-1683-9800-5F4B-3ABC359E1F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633" y="6063380"/>
            <a:ext cx="6979278" cy="52309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9B5A5-BC41-9B4D-B4B4-0E1F73FA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F28E-CC0B-D3D4-CEE2-52EEC64D9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64040-6D09-0E0A-FEC7-060FB48756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>
                <a:solidFill>
                  <a:schemeClr val="bg1">
                    <a:lumMod val="50000"/>
                  </a:schemeClr>
                </a:solidFill>
                <a:ea typeface="Outfit" pitchFamily="34" charset="-122"/>
                <a:cs typeface="Outfit" pitchFamily="34" charset="-120"/>
              </a:rPr>
              <a:t>Investor Deck • March 2026</a:t>
            </a:r>
            <a:endParaRPr lang="en-US" dirty="0">
              <a:solidFill>
                <a:schemeClr val="bg1">
                  <a:lumMod val="50000"/>
                </a:schemeClr>
              </a:solidFill>
              <a:ea typeface="Outfit" pitchFamily="34" charset="-122"/>
              <a:cs typeface="Outfit" pitchFamily="34" charset="-12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4D6EA-8BE1-5FC2-EC0E-D99CC484F3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2781A0-EF80-8341-9138-2BF5DDD951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6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CB5C-4029-C1E7-9A4E-BD8C780F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481BE-4460-34EB-CFD7-EB65F0CDFE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ea typeface="Outfit" pitchFamily="34" charset="-122"/>
                <a:cs typeface="Outfit" pitchFamily="34" charset="-120"/>
              </a:rPr>
              <a:t>Investor Deck • March 2026</a:t>
            </a:r>
            <a:endParaRPr lang="en-US" dirty="0">
              <a:ea typeface="Outfit" pitchFamily="34" charset="-122"/>
              <a:cs typeface="Outfit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8F62B-4285-A2D7-E8F5-1DCDF2905E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2781A0-EF80-8341-9138-2BF5DDD951C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409BAA-B01C-7272-5A26-7E2F12EDD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33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E892AD-9635-7B97-CB7D-0CB4665A5A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4779" y="2681289"/>
            <a:ext cx="6854912" cy="12312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89EF97-2D86-9900-0373-4E6295E69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EC95CB-C854-26BE-2FB5-25BAD659FD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F538BC-0646-71EF-F803-CCAA92ED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FD6D814-4899-FAB0-5618-E0F4B24C89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6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spekta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spekta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</TotalTime>
  <Words>12</Words>
  <Application>Microsoft Macintosh PowerPoint</Application>
  <PresentationFormat>Custom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Aspekta Variable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Ross Hall</cp:lastModifiedBy>
  <cp:revision>5</cp:revision>
  <dcterms:created xsi:type="dcterms:W3CDTF">2026-03-16T14:47:48Z</dcterms:created>
  <dcterms:modified xsi:type="dcterms:W3CDTF">2026-03-16T19:49:26Z</dcterms:modified>
</cp:coreProperties>
</file>